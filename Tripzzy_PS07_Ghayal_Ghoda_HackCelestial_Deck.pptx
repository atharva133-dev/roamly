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6B"/>
                </a:solidFill>
                <a:latin typeface="Segoe UI"/>
              </a:defRPr>
            </a:pPr>
            <a:r>
              <a:t>Mahatma Education Society's</a:t>
            </a:r>
          </a:p>
          <a:p>
            <a:pPr algn="ctr">
              <a:defRPr sz="2600" b="1">
                <a:solidFill>
                  <a:srgbClr val="2C3E6B"/>
                </a:solidFill>
                <a:latin typeface="Segoe UI"/>
              </a:defRPr>
            </a:pPr>
            <a:r>
              <a:t>PILLAI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C3E6B"/>
                </a:solidFill>
                <a:latin typeface="Segoe UI"/>
              </a:defRPr>
            </a:pPr>
            <a:r>
              <a:t>HackCelestial 3.0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C3E6B"/>
                </a:solidFill>
                <a:latin typeface="Segoe UI"/>
              </a:defRPr>
            </a:pPr>
            <a:r>
              <a:t>Team Name:</a:t>
            </a:r>
          </a:p>
          <a:p>
            <a:pPr>
              <a:defRPr sz="2800" b="1">
                <a:solidFill>
                  <a:srgbClr val="1E293B"/>
                </a:solidFill>
                <a:latin typeface="Segoe UI"/>
              </a:defRPr>
            </a:pPr>
            <a:r>
              <a:t>Ghayal Ghoda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C3E6B"/>
                </a:solidFill>
                <a:latin typeface="Segoe UI"/>
              </a:defRPr>
            </a:pPr>
            <a:r>
              <a:t>Problem Statement Title:</a:t>
            </a:r>
          </a:p>
          <a:p>
            <a:pPr>
              <a:defRPr sz="1800" b="1">
                <a:solidFill>
                  <a:srgbClr val="1E293B"/>
                </a:solidFill>
                <a:latin typeface="Segoe UI"/>
              </a:defRPr>
            </a:pPr>
            <a:r>
              <a:t>Personalized Dynamic Tour Planning &amp; Tour Operations Platform - PS-07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5333695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7850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Segoe UI"/>
              </a:defRPr>
            </a:pPr>
            <a:r>
              <a:t>03. Pitch Summary</a:t>
            </a:r>
          </a:p>
          <a:p>
            <a:pPr>
              <a:spcAft>
                <a:spcPts val="400"/>
              </a:spcAft>
              <a:defRPr sz="2400" b="1">
                <a:solidFill>
                  <a:srgbClr val="2C3E6B"/>
                </a:solidFill>
                <a:latin typeface="Segoe UI"/>
              </a:defRPr>
            </a:pPr>
            <a:r>
              <a:t>Abstract: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 Tripzzy is a personalized dynamic tour planning and tour operations platform.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 It helps users create customized travel itineraries based on their preferences (budget, style, dates, interests).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 The platform simplifies trip planning, scheduling, multi-city routing, and tour operations management.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 Integrates a high-performance Redis + BullMQ asynchronous queue system to eliminate AI latency during peak loads.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 It provides a dynamic and user-friendly interface with interactive 3D Canvas Globe, Map view, and Calendar schedule.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 Users can efficiently manage destinations, activities, localized INR (₹) budgets, and overall trip schedules.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 The solution aims to reduce the time and complexity involved in planning tours.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 It offers a centralized platform for a smooth, transparent, and personalized travel experience.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 Tripzzy is designed to make tour planning flexible, convenient, efficient, and scalable for users and tour operators.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C3E6B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120640"/>
          </a:xfrm>
          <a:prstGeom prst="roundRect">
            <a:avLst/>
          </a:prstGeom>
          <a:solidFill>
            <a:srgbClr val="CC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C3E6B"/>
                </a:solidFill>
                <a:latin typeface="Segoe UI"/>
              </a:defRPr>
            </a:pPr>
            <a:r>
              <a:t>Detailed explanation of the proposed solution: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•  Tripzzy is a smart, personalized tour planning platform designed to simplify the entire travel-planning process.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•  Users can enter their destination, budget, travel dates, interests, accommodation, transportation, and special preferences.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•  The system generates a personalized itinerary with suitable places, morning/afternoon/evening activities, and schedules using Google Gemini LLM.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•  Integrates a Redis + BullMQ asynchronous task queue with multi-tier Dead Letter Queues (DLQ) to process heavy AI requests without lag.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•  It enables users to organize and modify their trip plan dynamically according to changing requirements.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•  The platform provides a centralized view of the complete tour (3D Canvas Globe, Map view, Calendar timeline), reducing the need to use multiple applications.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•  Automatically standardizes all financial costs into localized Indian Rupees (INR ₹) using locale-aware formatting.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•  Tripzzy focuses on making travel planning faster, flexible, convenient, and user-friendly.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•  The solution can also support tour operators in managing, coordinating, and analyzing tour activities via an admin dashboard.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•  Overall, Tripzzy aims to provide a seamless, customized, highly efficient, and crash-proof travel-planning experience for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C3E6B"/>
                </a:solidFill>
                <a:latin typeface="Segoe UI"/>
              </a:defRPr>
            </a:pPr>
            <a:r>
              <a:t>Flow Chart /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120640"/>
          </a:xfrm>
          <a:prstGeom prst="roundRect">
            <a:avLst/>
          </a:prstGeom>
          <a:solidFill>
            <a:srgbClr val="CC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1800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C3E6B"/>
                </a:solidFill>
                <a:latin typeface="Segoe UI"/>
              </a:defRPr>
            </a:pPr>
            <a:r>
              <a:t>Flow Chart &amp; Architecture: End-to-End System Data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011680"/>
            <a:ext cx="31089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USER INPUT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Destinations, Dates, Budget, Style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1089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2. NEXT.JS API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Clerk Auth &amp; Payload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31089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3. REDIS &amp; BULLMQ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SHA-256 Hash Cache &amp; 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291840"/>
            <a:ext cx="31089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4. GEMINI AI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LLM Generation &amp; INR Converter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291840"/>
            <a:ext cx="31089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383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5. POSTGRES DB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Prisma ORM Persistence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31089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383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6. CLIENT RENDER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3D Globe, Map &amp; Calendar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72000"/>
            <a:ext cx="101800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Client Layer: Next.js 15 App Router with React 19, TypeScript, Tailwind CSS, Shadcn UI &amp; Framer Motion.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Async Queue Layer: Redis key-value cache + BullMQ workers (Main Queue + DLQ1 + DLQ2 retries) for zero-latency execution.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Database &amp; Auth Layer: PostgreSQL database managed via Prisma ORM connected with Clerk Authentication.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AI &amp; Currency Engine: Google Gemini LLM API integrated with fallback handling and automated INR (₹) currency conversion.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C3E6B"/>
                </a:solidFill>
                <a:latin typeface="Segoe UI"/>
              </a:defRPr>
            </a:pPr>
            <a:r>
              <a:t>Innovation and Unique Functionality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120640"/>
          </a:xfrm>
          <a:prstGeom prst="roundRect">
            <a:avLst/>
          </a:prstGeom>
          <a:solidFill>
            <a:srgbClr val="CC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C3E6B"/>
                </a:solidFill>
                <a:latin typeface="Segoe UI"/>
              </a:defRPr>
            </a:pPr>
            <a:r>
              <a:t>Innovative Aspects: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 Crash-Proof 3D Canvas Globe Engine: Custom-built 2D Canvas rendering engine with 3D matrix mathematics, specular shading, animated flight path arc vectors, and pulsing markers—completely immune to WebGL context crashes across low-end mobile devices.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 Resilient Asynchronous Task Queueing: Integrated Redis + BullMQ queue system with SHA-256 request hashing to return cached trip plans instantly and multi-tier Dead Letter Queues (DLQ1 &amp; DLQ2) for fail-safe background processing.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 Automated INR Currency Normalizer: Built-in parser that automatically detects foreign currencies ($ USD, € EUR, £ GBP, ¥ JPY) in AI model outputs and converts all costs into Indian Rupees (INR ₹) using locale-aware formatting.</a:t>
            </a:r>
          </a:p>
          <a:p>
            <a:pPr>
              <a:spcAft>
                <a:spcPts val="400"/>
              </a:spcAft>
              <a:defRPr sz="1800" b="1">
                <a:solidFill>
                  <a:srgbClr val="2C3E6B"/>
                </a:solidFill>
                <a:latin typeface="Segoe UI"/>
              </a:defRPr>
            </a:pPr>
            <a:r>
              <a:t>Unique Features: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 Synchronized Dual Map &amp; Calendar View: Real-time synchronization between spatial geographical locations (Map view) and temporal daily schedules (Calendar view).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 Community Trip Inspiration Hub: Public trip discovery network allowing users to search, save, and draw inspiration from itineraries generated by other travelers.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 Unified Tour Operations &amp; Admin Analytics Dashboard: Centralized portal providing tour operators with real-time analytics on trending cities, activity distributions, user metrics, and reviews.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C3E6B"/>
                </a:solidFill>
                <a:latin typeface="Segoe UI"/>
              </a:defRPr>
            </a:pPr>
            <a:r>
              <a:t>Technical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120640"/>
          </a:xfrm>
          <a:prstGeom prst="roundRect">
            <a:avLst/>
          </a:prstGeom>
          <a:solidFill>
            <a:srgbClr val="CC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9971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2C3E6B"/>
                </a:solidFill>
                <a:latin typeface="Segoe UI"/>
              </a:defRPr>
            </a:pPr>
            <a:r>
              <a:t>Frameworks &amp; Technologies: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 Frontend: Next.js 15 (App Router), React 19, TypeScript, Tailwind CSS, Shadcn UI, Framer Motion, Lucide Icons.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 Backend &amp; Async Queues: Node.js, Next.js Serverless Route Handlers, Redis (ioredis), BullMQ Worker Queues, Google Generative AI (Gemini SDK).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 Database &amp; Authentication: PostgreSQL database, Prisma ORM (relational schema for users, trips, stops, activities, budgets, reviews), Clerk Auth.</a:t>
            </a:r>
          </a:p>
          <a:p>
            <a:pPr>
              <a:spcAft>
                <a:spcPts val="200"/>
              </a:spcAft>
              <a:defRPr sz="1800" b="1">
                <a:solidFill>
                  <a:srgbClr val="2C3E6B"/>
                </a:solidFill>
                <a:latin typeface="Segoe UI"/>
              </a:defRPr>
            </a:pPr>
            <a:r>
              <a:t>Deployment: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 Vercel Cloud Platform (Serverless Next.js functions &amp; edge network).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 Upstash Serverless Redis (Low-latency managed key-value store for caching &amp; BullMQ queues).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 Neon Serverless PostgreSQL (Auto-scaling cloud relational database).</a:t>
            </a:r>
          </a:p>
          <a:p>
            <a:pPr>
              <a:spcAft>
                <a:spcPts val="200"/>
              </a:spcAft>
              <a:defRPr sz="1800" b="1">
                <a:solidFill>
                  <a:srgbClr val="2C3E6B"/>
                </a:solidFill>
                <a:latin typeface="Segoe UI"/>
              </a:defRPr>
            </a:pPr>
            <a:r>
              <a:t>Cost: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 Vercel Serverless: $0 - $20 / month | Upstash Redis: $0 - $10 / month | Neon PostgreSQL: $0 - $25 / month | Gemini AI API: Free Tier / Pay-as-you-go.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•  Total Operational Cost: ~$0 – $55 / month (Highly cost-effective, serverless infrastructure with zero idle compute costs).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C3E6B"/>
                </a:solidFill>
                <a:latin typeface="Segoe UI"/>
              </a:defRPr>
            </a:pPr>
            <a:r>
              <a:t>Existing Solutions and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120640"/>
          </a:xfrm>
          <a:prstGeom prst="roundRect">
            <a:avLst/>
          </a:prstGeom>
          <a:solidFill>
            <a:srgbClr val="CC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6B"/>
                </a:solidFill>
                <a:latin typeface="Segoe UI"/>
              </a:defRPr>
            </a:pPr>
            <a:r>
              <a:t>Existing Solutions and Comparison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175"/>
                <a:gridCol w="1737360"/>
                <a:gridCol w="1554480"/>
                <a:gridCol w="1554480"/>
                <a:gridCol w="1600200"/>
                <a:gridCol w="16002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 / Dimension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Tripzzy (Roamly)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TripIt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Wanderlog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Generic ChatGPT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Tour Operators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Real-time AI Itinerary Synthesis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✅ Instant &amp; Dynamic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❌ Manual Forwarding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⚠️ Limited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⚠️ Unstructured 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❌ Slow / Fixed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Asynchronous Queue (BullMQ)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✅ Built-in Queue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❌ None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❌ None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❌ None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❌ None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Crash-Proof 3D Globe Visualizer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✅ Interactive 3D Canvas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❌ Static Maps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⚠️ Basic 2D Pin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❌ Text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❌ Printed Papers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Localized Currency (INR ₹)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✅ Automated Conversion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❌ USD / Local Only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⚠️ Mixed Currency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⚠️ Manual Prompting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⚠️ Fixed Quotes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Multi-City Route Auto-Optimizer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✅ Smart Logical Splits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❌ Manual Layout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⚠️ Semi-Automated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⚠️ Inconsistent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⚠️ Pre-packaged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Integrated Admin &amp; Community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✅ Analytics + Sharing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❌ Personal Only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⚠️ Basic Sharing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❌ None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❌ Closed Systems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